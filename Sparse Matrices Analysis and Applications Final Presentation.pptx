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9A8758-AD5F-4B0E-BF1D-2244BDB26E0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8CB79B1-0CF8-4D88-9983-8571D5D6CE7B}">
      <dgm:prSet/>
      <dgm:spPr/>
      <dgm:t>
        <a:bodyPr/>
        <a:lstStyle/>
        <a:p>
          <a:pPr>
            <a:defRPr cap="all"/>
          </a:pPr>
          <a:r>
            <a:rPr lang="en-US" b="1" i="0"/>
            <a:t>Engineering (FEM)</a:t>
          </a:r>
          <a:endParaRPr lang="en-US"/>
        </a:p>
      </dgm:t>
    </dgm:pt>
    <dgm:pt modelId="{22535056-EF0B-4E7A-89E3-D7066C9C9724}" type="parTrans" cxnId="{5438AF3F-D563-4CBC-87BD-C4D9C1487DB7}">
      <dgm:prSet/>
      <dgm:spPr/>
      <dgm:t>
        <a:bodyPr/>
        <a:lstStyle/>
        <a:p>
          <a:endParaRPr lang="en-US"/>
        </a:p>
      </dgm:t>
    </dgm:pt>
    <dgm:pt modelId="{A8292EB3-BFEB-45B3-8314-ED0E7981BFFA}" type="sibTrans" cxnId="{5438AF3F-D563-4CBC-87BD-C4D9C1487DB7}">
      <dgm:prSet/>
      <dgm:spPr/>
      <dgm:t>
        <a:bodyPr/>
        <a:lstStyle/>
        <a:p>
          <a:endParaRPr lang="en-US"/>
        </a:p>
      </dgm:t>
    </dgm:pt>
    <dgm:pt modelId="{695B5054-E52C-4F2E-9EEA-72BE9523071B}">
      <dgm:prSet/>
      <dgm:spPr/>
      <dgm:t>
        <a:bodyPr/>
        <a:lstStyle/>
        <a:p>
          <a:pPr>
            <a:defRPr cap="all"/>
          </a:pPr>
          <a:r>
            <a:rPr lang="en-US" b="1" i="0"/>
            <a:t>Machine Learning</a:t>
          </a:r>
          <a:endParaRPr lang="en-US"/>
        </a:p>
      </dgm:t>
    </dgm:pt>
    <dgm:pt modelId="{9A57BEEB-8ECC-4F68-B41C-97A1F45A0279}" type="parTrans" cxnId="{E4E4D60D-04DF-46C5-B2C7-3075D95585DF}">
      <dgm:prSet/>
      <dgm:spPr/>
      <dgm:t>
        <a:bodyPr/>
        <a:lstStyle/>
        <a:p>
          <a:endParaRPr lang="en-US"/>
        </a:p>
      </dgm:t>
    </dgm:pt>
    <dgm:pt modelId="{143BAD48-F837-4D66-BA0D-D791A845E197}" type="sibTrans" cxnId="{E4E4D60D-04DF-46C5-B2C7-3075D95585DF}">
      <dgm:prSet/>
      <dgm:spPr/>
      <dgm:t>
        <a:bodyPr/>
        <a:lstStyle/>
        <a:p>
          <a:endParaRPr lang="en-US"/>
        </a:p>
      </dgm:t>
    </dgm:pt>
    <dgm:pt modelId="{8494DA46-D07C-45C4-8AAB-5E94CA80E2FB}">
      <dgm:prSet/>
      <dgm:spPr/>
      <dgm:t>
        <a:bodyPr/>
        <a:lstStyle/>
        <a:p>
          <a:pPr>
            <a:defRPr cap="all"/>
          </a:pPr>
          <a:r>
            <a:rPr lang="en-US" b="1" i="0"/>
            <a:t>Data Science</a:t>
          </a:r>
          <a:endParaRPr lang="en-US"/>
        </a:p>
      </dgm:t>
    </dgm:pt>
    <dgm:pt modelId="{F414069D-E09C-46B1-B583-D25DF442DBA1}" type="parTrans" cxnId="{2E1486C2-EC6B-4A53-89C8-AC3256D0BCB8}">
      <dgm:prSet/>
      <dgm:spPr/>
      <dgm:t>
        <a:bodyPr/>
        <a:lstStyle/>
        <a:p>
          <a:endParaRPr lang="en-US"/>
        </a:p>
      </dgm:t>
    </dgm:pt>
    <dgm:pt modelId="{8906C5B3-EE26-41D0-85B6-C1C3923B6A95}" type="sibTrans" cxnId="{2E1486C2-EC6B-4A53-89C8-AC3256D0BCB8}">
      <dgm:prSet/>
      <dgm:spPr/>
      <dgm:t>
        <a:bodyPr/>
        <a:lstStyle/>
        <a:p>
          <a:endParaRPr lang="en-US"/>
        </a:p>
      </dgm:t>
    </dgm:pt>
    <dgm:pt modelId="{AAB41912-4687-4FE7-8E9D-A86199166656}">
      <dgm:prSet/>
      <dgm:spPr/>
      <dgm:t>
        <a:bodyPr/>
        <a:lstStyle/>
        <a:p>
          <a:pPr>
            <a:defRPr cap="all"/>
          </a:pPr>
          <a:r>
            <a:rPr lang="en-US" b="0" i="0"/>
            <a:t>Finite Element Method simulations for bridge and aerospace structural integrity.</a:t>
          </a:r>
          <a:endParaRPr lang="en-US"/>
        </a:p>
      </dgm:t>
    </dgm:pt>
    <dgm:pt modelId="{79FEF290-E7EF-4E56-8C3A-C4D6CF74C018}" type="parTrans" cxnId="{527F0968-F312-44F9-BA9F-A20F99DE0C21}">
      <dgm:prSet/>
      <dgm:spPr/>
      <dgm:t>
        <a:bodyPr/>
        <a:lstStyle/>
        <a:p>
          <a:endParaRPr lang="en-US"/>
        </a:p>
      </dgm:t>
    </dgm:pt>
    <dgm:pt modelId="{E2804B80-0BDC-4ABE-A712-369B779F36F4}" type="sibTrans" cxnId="{527F0968-F312-44F9-BA9F-A20F99DE0C21}">
      <dgm:prSet/>
      <dgm:spPr/>
      <dgm:t>
        <a:bodyPr/>
        <a:lstStyle/>
        <a:p>
          <a:endParaRPr lang="en-US"/>
        </a:p>
      </dgm:t>
    </dgm:pt>
    <dgm:pt modelId="{76D9B8E5-9BA6-47DC-85EA-6E07C049EDE5}">
      <dgm:prSet/>
      <dgm:spPr/>
      <dgm:t>
        <a:bodyPr/>
        <a:lstStyle/>
        <a:p>
          <a:pPr>
            <a:defRPr cap="all"/>
          </a:pPr>
          <a:r>
            <a:rPr lang="en-US" b="0" i="0"/>
            <a:t>Large-scale neural network weights and Graph Convolutional Networks (GCNs).</a:t>
          </a:r>
          <a:endParaRPr lang="en-US"/>
        </a:p>
      </dgm:t>
    </dgm:pt>
    <dgm:pt modelId="{8F79A7F3-E3D0-485C-B727-AE8F5355117E}" type="parTrans" cxnId="{4E427FE3-5C00-4213-B6E9-5C9EE3876B4D}">
      <dgm:prSet/>
      <dgm:spPr/>
      <dgm:t>
        <a:bodyPr/>
        <a:lstStyle/>
        <a:p>
          <a:endParaRPr lang="en-US"/>
        </a:p>
      </dgm:t>
    </dgm:pt>
    <dgm:pt modelId="{E7D2711E-7CF4-4FCE-97C6-B88C8DD34DA7}" type="sibTrans" cxnId="{4E427FE3-5C00-4213-B6E9-5C9EE3876B4D}">
      <dgm:prSet/>
      <dgm:spPr/>
      <dgm:t>
        <a:bodyPr/>
        <a:lstStyle/>
        <a:p>
          <a:endParaRPr lang="en-US"/>
        </a:p>
      </dgm:t>
    </dgm:pt>
    <dgm:pt modelId="{116E6F27-A9AC-42DE-B4D3-C3F513A1ECC9}">
      <dgm:prSet/>
      <dgm:spPr/>
      <dgm:t>
        <a:bodyPr/>
        <a:lstStyle/>
        <a:p>
          <a:pPr>
            <a:defRPr cap="all"/>
          </a:pPr>
          <a:r>
            <a:rPr lang="en-US" b="0" i="0"/>
            <a:t>Recommendation systems and NLP involving high-dimensional sparse features.</a:t>
          </a:r>
          <a:endParaRPr lang="en-US"/>
        </a:p>
      </dgm:t>
    </dgm:pt>
    <dgm:pt modelId="{8F44F4C5-D6A3-4BD1-90C1-B4CD4D7E66D0}" type="parTrans" cxnId="{5CFCB6DB-0BBD-4A61-9A0D-788538B38F35}">
      <dgm:prSet/>
      <dgm:spPr/>
      <dgm:t>
        <a:bodyPr/>
        <a:lstStyle/>
        <a:p>
          <a:endParaRPr lang="en-US"/>
        </a:p>
      </dgm:t>
    </dgm:pt>
    <dgm:pt modelId="{3DB0B82B-C7CF-4093-95E9-733052CDC274}" type="sibTrans" cxnId="{5CFCB6DB-0BBD-4A61-9A0D-788538B38F35}">
      <dgm:prSet/>
      <dgm:spPr/>
      <dgm:t>
        <a:bodyPr/>
        <a:lstStyle/>
        <a:p>
          <a:endParaRPr lang="en-US"/>
        </a:p>
      </dgm:t>
    </dgm:pt>
    <dgm:pt modelId="{7C56D962-D84F-419D-A5B8-4F3F4E4BA17F}" type="pres">
      <dgm:prSet presAssocID="{E49A8758-AD5F-4B0E-BF1D-2244BDB26E0E}" presName="root" presStyleCnt="0">
        <dgm:presLayoutVars>
          <dgm:dir/>
          <dgm:resizeHandles val="exact"/>
        </dgm:presLayoutVars>
      </dgm:prSet>
      <dgm:spPr/>
    </dgm:pt>
    <dgm:pt modelId="{0AA87133-51A2-4821-A8EE-A6053E47AA7F}" type="pres">
      <dgm:prSet presAssocID="{F8CB79B1-0CF8-4D88-9983-8571D5D6CE7B}" presName="compNode" presStyleCnt="0"/>
      <dgm:spPr/>
    </dgm:pt>
    <dgm:pt modelId="{DD0F3157-05D6-407B-A184-CD8151ECC659}" type="pres">
      <dgm:prSet presAssocID="{F8CB79B1-0CF8-4D88-9983-8571D5D6CE7B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9B8FC961-5381-458B-A459-654FD816B0BB}" type="pres">
      <dgm:prSet presAssocID="{F8CB79B1-0CF8-4D88-9983-8571D5D6CE7B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B97E8111-F06A-43FC-BBEA-E377EA7C7350}" type="pres">
      <dgm:prSet presAssocID="{F8CB79B1-0CF8-4D88-9983-8571D5D6CE7B}" presName="spaceRect" presStyleCnt="0"/>
      <dgm:spPr/>
    </dgm:pt>
    <dgm:pt modelId="{8174255B-F9C2-422A-B824-61A12375D436}" type="pres">
      <dgm:prSet presAssocID="{F8CB79B1-0CF8-4D88-9983-8571D5D6CE7B}" presName="textRect" presStyleLbl="revTx" presStyleIdx="0" presStyleCnt="6">
        <dgm:presLayoutVars>
          <dgm:chMax val="1"/>
          <dgm:chPref val="1"/>
        </dgm:presLayoutVars>
      </dgm:prSet>
      <dgm:spPr/>
    </dgm:pt>
    <dgm:pt modelId="{7994944E-40B7-4B2A-9B82-AED555A73239}" type="pres">
      <dgm:prSet presAssocID="{A8292EB3-BFEB-45B3-8314-ED0E7981BFFA}" presName="sibTrans" presStyleCnt="0"/>
      <dgm:spPr/>
    </dgm:pt>
    <dgm:pt modelId="{3AD1AD2B-2CC1-4CA6-AEBF-B730FAEAFA70}" type="pres">
      <dgm:prSet presAssocID="{695B5054-E52C-4F2E-9EEA-72BE9523071B}" presName="compNode" presStyleCnt="0"/>
      <dgm:spPr/>
    </dgm:pt>
    <dgm:pt modelId="{96D1B37A-9245-4721-9664-5B78C148847B}" type="pres">
      <dgm:prSet presAssocID="{695B5054-E52C-4F2E-9EEA-72BE9523071B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EADF29B-DDA7-433F-839D-5830988A25D1}" type="pres">
      <dgm:prSet presAssocID="{695B5054-E52C-4F2E-9EEA-72BE9523071B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ECF350C-5ECF-4EC1-8337-80773A73CF9B}" type="pres">
      <dgm:prSet presAssocID="{695B5054-E52C-4F2E-9EEA-72BE9523071B}" presName="spaceRect" presStyleCnt="0"/>
      <dgm:spPr/>
    </dgm:pt>
    <dgm:pt modelId="{17625CF0-F3AF-431A-8B2D-73DC212628C7}" type="pres">
      <dgm:prSet presAssocID="{695B5054-E52C-4F2E-9EEA-72BE9523071B}" presName="textRect" presStyleLbl="revTx" presStyleIdx="1" presStyleCnt="6">
        <dgm:presLayoutVars>
          <dgm:chMax val="1"/>
          <dgm:chPref val="1"/>
        </dgm:presLayoutVars>
      </dgm:prSet>
      <dgm:spPr/>
    </dgm:pt>
    <dgm:pt modelId="{D1BEB82A-B31A-4D65-8213-49682D50B10C}" type="pres">
      <dgm:prSet presAssocID="{143BAD48-F837-4D66-BA0D-D791A845E197}" presName="sibTrans" presStyleCnt="0"/>
      <dgm:spPr/>
    </dgm:pt>
    <dgm:pt modelId="{DABC97F0-2824-4220-A30C-75CE7AB44B60}" type="pres">
      <dgm:prSet presAssocID="{8494DA46-D07C-45C4-8AAB-5E94CA80E2FB}" presName="compNode" presStyleCnt="0"/>
      <dgm:spPr/>
    </dgm:pt>
    <dgm:pt modelId="{7321F4E4-D738-455F-AC2F-4608697E1C9C}" type="pres">
      <dgm:prSet presAssocID="{8494DA46-D07C-45C4-8AAB-5E94CA80E2FB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399441F0-EDAE-46DF-BF96-D2CAC26849CF}" type="pres">
      <dgm:prSet presAssocID="{8494DA46-D07C-45C4-8AAB-5E94CA80E2FB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CCC79AD-D042-4A74-89F9-5D20FDF923B9}" type="pres">
      <dgm:prSet presAssocID="{8494DA46-D07C-45C4-8AAB-5E94CA80E2FB}" presName="spaceRect" presStyleCnt="0"/>
      <dgm:spPr/>
    </dgm:pt>
    <dgm:pt modelId="{8186685E-C26C-4784-A53D-35BC449908E5}" type="pres">
      <dgm:prSet presAssocID="{8494DA46-D07C-45C4-8AAB-5E94CA80E2FB}" presName="textRect" presStyleLbl="revTx" presStyleIdx="2" presStyleCnt="6">
        <dgm:presLayoutVars>
          <dgm:chMax val="1"/>
          <dgm:chPref val="1"/>
        </dgm:presLayoutVars>
      </dgm:prSet>
      <dgm:spPr/>
    </dgm:pt>
    <dgm:pt modelId="{9061945B-1DAA-4C55-B643-B00143F1AC29}" type="pres">
      <dgm:prSet presAssocID="{8906C5B3-EE26-41D0-85B6-C1C3923B6A95}" presName="sibTrans" presStyleCnt="0"/>
      <dgm:spPr/>
    </dgm:pt>
    <dgm:pt modelId="{73E86D49-38A4-45B9-B2C7-EA7DA4FF9FE8}" type="pres">
      <dgm:prSet presAssocID="{AAB41912-4687-4FE7-8E9D-A86199166656}" presName="compNode" presStyleCnt="0"/>
      <dgm:spPr/>
    </dgm:pt>
    <dgm:pt modelId="{430DD83C-6E81-4B9C-ABA5-C344902E6448}" type="pres">
      <dgm:prSet presAssocID="{AAB41912-4687-4FE7-8E9D-A86199166656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3A73895-616C-49F0-A2C3-C43E3C70F421}" type="pres">
      <dgm:prSet presAssocID="{AAB41912-4687-4FE7-8E9D-A86199166656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D0297C68-5C40-4B5C-B4D3-AB426264D7A8}" type="pres">
      <dgm:prSet presAssocID="{AAB41912-4687-4FE7-8E9D-A86199166656}" presName="spaceRect" presStyleCnt="0"/>
      <dgm:spPr/>
    </dgm:pt>
    <dgm:pt modelId="{A4BFF012-2E2F-48E6-AC47-4E87D56F288E}" type="pres">
      <dgm:prSet presAssocID="{AAB41912-4687-4FE7-8E9D-A86199166656}" presName="textRect" presStyleLbl="revTx" presStyleIdx="3" presStyleCnt="6">
        <dgm:presLayoutVars>
          <dgm:chMax val="1"/>
          <dgm:chPref val="1"/>
        </dgm:presLayoutVars>
      </dgm:prSet>
      <dgm:spPr/>
    </dgm:pt>
    <dgm:pt modelId="{7D12BB82-66C7-4F58-8256-FD29777088BA}" type="pres">
      <dgm:prSet presAssocID="{E2804B80-0BDC-4ABE-A712-369B779F36F4}" presName="sibTrans" presStyleCnt="0"/>
      <dgm:spPr/>
    </dgm:pt>
    <dgm:pt modelId="{6BD5C38F-D298-461C-B3E8-25FA6554BBED}" type="pres">
      <dgm:prSet presAssocID="{76D9B8E5-9BA6-47DC-85EA-6E07C049EDE5}" presName="compNode" presStyleCnt="0"/>
      <dgm:spPr/>
    </dgm:pt>
    <dgm:pt modelId="{055E5D17-5898-402D-8A31-AD3A10D07201}" type="pres">
      <dgm:prSet presAssocID="{76D9B8E5-9BA6-47DC-85EA-6E07C049EDE5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452EC2F8-FA2E-4ED1-BDD4-1BD921F6DFF9}" type="pres">
      <dgm:prSet presAssocID="{76D9B8E5-9BA6-47DC-85EA-6E07C049EDE5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7B1F6C08-F68F-4B6D-A905-2E84DB38916C}" type="pres">
      <dgm:prSet presAssocID="{76D9B8E5-9BA6-47DC-85EA-6E07C049EDE5}" presName="spaceRect" presStyleCnt="0"/>
      <dgm:spPr/>
    </dgm:pt>
    <dgm:pt modelId="{33B8CD29-92BF-41A3-94CB-5637458713A8}" type="pres">
      <dgm:prSet presAssocID="{76D9B8E5-9BA6-47DC-85EA-6E07C049EDE5}" presName="textRect" presStyleLbl="revTx" presStyleIdx="4" presStyleCnt="6">
        <dgm:presLayoutVars>
          <dgm:chMax val="1"/>
          <dgm:chPref val="1"/>
        </dgm:presLayoutVars>
      </dgm:prSet>
      <dgm:spPr/>
    </dgm:pt>
    <dgm:pt modelId="{3FA4884F-9628-4F2C-A300-529538F9F585}" type="pres">
      <dgm:prSet presAssocID="{E7D2711E-7CF4-4FCE-97C6-B88C8DD34DA7}" presName="sibTrans" presStyleCnt="0"/>
      <dgm:spPr/>
    </dgm:pt>
    <dgm:pt modelId="{989F84A6-45E8-4F1F-8A24-AB1E7760087B}" type="pres">
      <dgm:prSet presAssocID="{116E6F27-A9AC-42DE-B4D3-C3F513A1ECC9}" presName="compNode" presStyleCnt="0"/>
      <dgm:spPr/>
    </dgm:pt>
    <dgm:pt modelId="{5A6CAEA8-75BB-4244-A1F2-1E3716CF4A3A}" type="pres">
      <dgm:prSet presAssocID="{116E6F27-A9AC-42DE-B4D3-C3F513A1ECC9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BB95475-5AC4-4042-A1CA-3C90232D03E6}" type="pres">
      <dgm:prSet presAssocID="{116E6F27-A9AC-42DE-B4D3-C3F513A1ECC9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23A2EA8-267E-4A2B-AD93-708572695DF3}" type="pres">
      <dgm:prSet presAssocID="{116E6F27-A9AC-42DE-B4D3-C3F513A1ECC9}" presName="spaceRect" presStyleCnt="0"/>
      <dgm:spPr/>
    </dgm:pt>
    <dgm:pt modelId="{A84628D0-3713-49CE-86AF-4B39672C09D5}" type="pres">
      <dgm:prSet presAssocID="{116E6F27-A9AC-42DE-B4D3-C3F513A1ECC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4E4D60D-04DF-46C5-B2C7-3075D95585DF}" srcId="{E49A8758-AD5F-4B0E-BF1D-2244BDB26E0E}" destId="{695B5054-E52C-4F2E-9EEA-72BE9523071B}" srcOrd="1" destOrd="0" parTransId="{9A57BEEB-8ECC-4F68-B41C-97A1F45A0279}" sibTransId="{143BAD48-F837-4D66-BA0D-D791A845E197}"/>
    <dgm:cxn modelId="{57A20017-1B97-47F4-9DE3-03E2EAAFDDF9}" type="presOf" srcId="{AAB41912-4687-4FE7-8E9D-A86199166656}" destId="{A4BFF012-2E2F-48E6-AC47-4E87D56F288E}" srcOrd="0" destOrd="0" presId="urn:microsoft.com/office/officeart/2018/5/layout/IconLeafLabelList"/>
    <dgm:cxn modelId="{8A42541E-BD66-4FB3-A215-E43F5C15DF8D}" type="presOf" srcId="{E49A8758-AD5F-4B0E-BF1D-2244BDB26E0E}" destId="{7C56D962-D84F-419D-A5B8-4F3F4E4BA17F}" srcOrd="0" destOrd="0" presId="urn:microsoft.com/office/officeart/2018/5/layout/IconLeafLabelList"/>
    <dgm:cxn modelId="{97E7C528-4D3F-4E8A-89D6-496326AC20F3}" type="presOf" srcId="{695B5054-E52C-4F2E-9EEA-72BE9523071B}" destId="{17625CF0-F3AF-431A-8B2D-73DC212628C7}" srcOrd="0" destOrd="0" presId="urn:microsoft.com/office/officeart/2018/5/layout/IconLeafLabelList"/>
    <dgm:cxn modelId="{5438AF3F-D563-4CBC-87BD-C4D9C1487DB7}" srcId="{E49A8758-AD5F-4B0E-BF1D-2244BDB26E0E}" destId="{F8CB79B1-0CF8-4D88-9983-8571D5D6CE7B}" srcOrd="0" destOrd="0" parTransId="{22535056-EF0B-4E7A-89E3-D7066C9C9724}" sibTransId="{A8292EB3-BFEB-45B3-8314-ED0E7981BFFA}"/>
    <dgm:cxn modelId="{EB352245-AD1A-4A00-A060-B4BC7DF0621B}" type="presOf" srcId="{8494DA46-D07C-45C4-8AAB-5E94CA80E2FB}" destId="{8186685E-C26C-4784-A53D-35BC449908E5}" srcOrd="0" destOrd="0" presId="urn:microsoft.com/office/officeart/2018/5/layout/IconLeafLabelList"/>
    <dgm:cxn modelId="{527F0968-F312-44F9-BA9F-A20F99DE0C21}" srcId="{E49A8758-AD5F-4B0E-BF1D-2244BDB26E0E}" destId="{AAB41912-4687-4FE7-8E9D-A86199166656}" srcOrd="3" destOrd="0" parTransId="{79FEF290-E7EF-4E56-8C3A-C4D6CF74C018}" sibTransId="{E2804B80-0BDC-4ABE-A712-369B779F36F4}"/>
    <dgm:cxn modelId="{4883548F-3F6A-45CB-A941-3F0AA75E877E}" type="presOf" srcId="{F8CB79B1-0CF8-4D88-9983-8571D5D6CE7B}" destId="{8174255B-F9C2-422A-B824-61A12375D436}" srcOrd="0" destOrd="0" presId="urn:microsoft.com/office/officeart/2018/5/layout/IconLeafLabelList"/>
    <dgm:cxn modelId="{2E1486C2-EC6B-4A53-89C8-AC3256D0BCB8}" srcId="{E49A8758-AD5F-4B0E-BF1D-2244BDB26E0E}" destId="{8494DA46-D07C-45C4-8AAB-5E94CA80E2FB}" srcOrd="2" destOrd="0" parTransId="{F414069D-E09C-46B1-B583-D25DF442DBA1}" sibTransId="{8906C5B3-EE26-41D0-85B6-C1C3923B6A95}"/>
    <dgm:cxn modelId="{5CFCB6DB-0BBD-4A61-9A0D-788538B38F35}" srcId="{E49A8758-AD5F-4B0E-BF1D-2244BDB26E0E}" destId="{116E6F27-A9AC-42DE-B4D3-C3F513A1ECC9}" srcOrd="5" destOrd="0" parTransId="{8F44F4C5-D6A3-4BD1-90C1-B4CD4D7E66D0}" sibTransId="{3DB0B82B-C7CF-4093-95E9-733052CDC274}"/>
    <dgm:cxn modelId="{4E427FE3-5C00-4213-B6E9-5C9EE3876B4D}" srcId="{E49A8758-AD5F-4B0E-BF1D-2244BDB26E0E}" destId="{76D9B8E5-9BA6-47DC-85EA-6E07C049EDE5}" srcOrd="4" destOrd="0" parTransId="{8F79A7F3-E3D0-485C-B727-AE8F5355117E}" sibTransId="{E7D2711E-7CF4-4FCE-97C6-B88C8DD34DA7}"/>
    <dgm:cxn modelId="{60CBB2FC-B569-45A3-8F77-B2381BAD0F9A}" type="presOf" srcId="{76D9B8E5-9BA6-47DC-85EA-6E07C049EDE5}" destId="{33B8CD29-92BF-41A3-94CB-5637458713A8}" srcOrd="0" destOrd="0" presId="urn:microsoft.com/office/officeart/2018/5/layout/IconLeafLabelList"/>
    <dgm:cxn modelId="{B6D9CBFE-AA85-41CD-B526-B808BDC20272}" type="presOf" srcId="{116E6F27-A9AC-42DE-B4D3-C3F513A1ECC9}" destId="{A84628D0-3713-49CE-86AF-4B39672C09D5}" srcOrd="0" destOrd="0" presId="urn:microsoft.com/office/officeart/2018/5/layout/IconLeafLabelList"/>
    <dgm:cxn modelId="{C833F8E5-6057-40E6-86AC-BE112C741403}" type="presParOf" srcId="{7C56D962-D84F-419D-A5B8-4F3F4E4BA17F}" destId="{0AA87133-51A2-4821-A8EE-A6053E47AA7F}" srcOrd="0" destOrd="0" presId="urn:microsoft.com/office/officeart/2018/5/layout/IconLeafLabelList"/>
    <dgm:cxn modelId="{C788EE80-C4EC-4973-9083-5130A7CD9006}" type="presParOf" srcId="{0AA87133-51A2-4821-A8EE-A6053E47AA7F}" destId="{DD0F3157-05D6-407B-A184-CD8151ECC659}" srcOrd="0" destOrd="0" presId="urn:microsoft.com/office/officeart/2018/5/layout/IconLeafLabelList"/>
    <dgm:cxn modelId="{FA9FEE95-86B8-46A4-A1AD-A4A9DDACDC57}" type="presParOf" srcId="{0AA87133-51A2-4821-A8EE-A6053E47AA7F}" destId="{9B8FC961-5381-458B-A459-654FD816B0BB}" srcOrd="1" destOrd="0" presId="urn:microsoft.com/office/officeart/2018/5/layout/IconLeafLabelList"/>
    <dgm:cxn modelId="{31620A85-F8B1-408F-B499-F88FEA504422}" type="presParOf" srcId="{0AA87133-51A2-4821-A8EE-A6053E47AA7F}" destId="{B97E8111-F06A-43FC-BBEA-E377EA7C7350}" srcOrd="2" destOrd="0" presId="urn:microsoft.com/office/officeart/2018/5/layout/IconLeafLabelList"/>
    <dgm:cxn modelId="{B13DB783-9E67-4D23-B5A3-139425ABA88C}" type="presParOf" srcId="{0AA87133-51A2-4821-A8EE-A6053E47AA7F}" destId="{8174255B-F9C2-422A-B824-61A12375D436}" srcOrd="3" destOrd="0" presId="urn:microsoft.com/office/officeart/2018/5/layout/IconLeafLabelList"/>
    <dgm:cxn modelId="{F9C2737E-F7DE-4069-8129-8BAFC1396F80}" type="presParOf" srcId="{7C56D962-D84F-419D-A5B8-4F3F4E4BA17F}" destId="{7994944E-40B7-4B2A-9B82-AED555A73239}" srcOrd="1" destOrd="0" presId="urn:microsoft.com/office/officeart/2018/5/layout/IconLeafLabelList"/>
    <dgm:cxn modelId="{D9338A1C-741A-4C2B-9F32-3A2EF1FACAB9}" type="presParOf" srcId="{7C56D962-D84F-419D-A5B8-4F3F4E4BA17F}" destId="{3AD1AD2B-2CC1-4CA6-AEBF-B730FAEAFA70}" srcOrd="2" destOrd="0" presId="urn:microsoft.com/office/officeart/2018/5/layout/IconLeafLabelList"/>
    <dgm:cxn modelId="{DD3EAF27-3400-4F5E-BA88-B47AE21F60CC}" type="presParOf" srcId="{3AD1AD2B-2CC1-4CA6-AEBF-B730FAEAFA70}" destId="{96D1B37A-9245-4721-9664-5B78C148847B}" srcOrd="0" destOrd="0" presId="urn:microsoft.com/office/officeart/2018/5/layout/IconLeafLabelList"/>
    <dgm:cxn modelId="{2B6487BD-488E-4DF8-9B4E-62AE5DCDA65A}" type="presParOf" srcId="{3AD1AD2B-2CC1-4CA6-AEBF-B730FAEAFA70}" destId="{0EADF29B-DDA7-433F-839D-5830988A25D1}" srcOrd="1" destOrd="0" presId="urn:microsoft.com/office/officeart/2018/5/layout/IconLeafLabelList"/>
    <dgm:cxn modelId="{4E0C2DB3-2731-449E-82F8-2C5A911888B5}" type="presParOf" srcId="{3AD1AD2B-2CC1-4CA6-AEBF-B730FAEAFA70}" destId="{AECF350C-5ECF-4EC1-8337-80773A73CF9B}" srcOrd="2" destOrd="0" presId="urn:microsoft.com/office/officeart/2018/5/layout/IconLeafLabelList"/>
    <dgm:cxn modelId="{95951FB9-E1A6-4A28-A913-62D874A00EBA}" type="presParOf" srcId="{3AD1AD2B-2CC1-4CA6-AEBF-B730FAEAFA70}" destId="{17625CF0-F3AF-431A-8B2D-73DC212628C7}" srcOrd="3" destOrd="0" presId="urn:microsoft.com/office/officeart/2018/5/layout/IconLeafLabelList"/>
    <dgm:cxn modelId="{822CDEDD-C098-4239-947D-B0B10EFF2C24}" type="presParOf" srcId="{7C56D962-D84F-419D-A5B8-4F3F4E4BA17F}" destId="{D1BEB82A-B31A-4D65-8213-49682D50B10C}" srcOrd="3" destOrd="0" presId="urn:microsoft.com/office/officeart/2018/5/layout/IconLeafLabelList"/>
    <dgm:cxn modelId="{F6093822-61F7-47CB-8662-A000B45B4153}" type="presParOf" srcId="{7C56D962-D84F-419D-A5B8-4F3F4E4BA17F}" destId="{DABC97F0-2824-4220-A30C-75CE7AB44B60}" srcOrd="4" destOrd="0" presId="urn:microsoft.com/office/officeart/2018/5/layout/IconLeafLabelList"/>
    <dgm:cxn modelId="{2A523C83-BF52-42EB-9EC3-0847499FA6F4}" type="presParOf" srcId="{DABC97F0-2824-4220-A30C-75CE7AB44B60}" destId="{7321F4E4-D738-455F-AC2F-4608697E1C9C}" srcOrd="0" destOrd="0" presId="urn:microsoft.com/office/officeart/2018/5/layout/IconLeafLabelList"/>
    <dgm:cxn modelId="{754C6336-BA73-46C1-A653-08D4A721E80E}" type="presParOf" srcId="{DABC97F0-2824-4220-A30C-75CE7AB44B60}" destId="{399441F0-EDAE-46DF-BF96-D2CAC26849CF}" srcOrd="1" destOrd="0" presId="urn:microsoft.com/office/officeart/2018/5/layout/IconLeafLabelList"/>
    <dgm:cxn modelId="{C4ACF3A0-A954-47B1-9EC4-E73F82B72ED5}" type="presParOf" srcId="{DABC97F0-2824-4220-A30C-75CE7AB44B60}" destId="{9CCC79AD-D042-4A74-89F9-5D20FDF923B9}" srcOrd="2" destOrd="0" presId="urn:microsoft.com/office/officeart/2018/5/layout/IconLeafLabelList"/>
    <dgm:cxn modelId="{A170E1BB-E1DB-4449-B5B5-07E97C94F3FC}" type="presParOf" srcId="{DABC97F0-2824-4220-A30C-75CE7AB44B60}" destId="{8186685E-C26C-4784-A53D-35BC449908E5}" srcOrd="3" destOrd="0" presId="urn:microsoft.com/office/officeart/2018/5/layout/IconLeafLabelList"/>
    <dgm:cxn modelId="{1A691DD6-4433-4662-A1A4-9AEA28C1FE72}" type="presParOf" srcId="{7C56D962-D84F-419D-A5B8-4F3F4E4BA17F}" destId="{9061945B-1DAA-4C55-B643-B00143F1AC29}" srcOrd="5" destOrd="0" presId="urn:microsoft.com/office/officeart/2018/5/layout/IconLeafLabelList"/>
    <dgm:cxn modelId="{49055B08-3072-4B4E-91E4-ED16E705C83A}" type="presParOf" srcId="{7C56D962-D84F-419D-A5B8-4F3F4E4BA17F}" destId="{73E86D49-38A4-45B9-B2C7-EA7DA4FF9FE8}" srcOrd="6" destOrd="0" presId="urn:microsoft.com/office/officeart/2018/5/layout/IconLeafLabelList"/>
    <dgm:cxn modelId="{1757A364-B04D-4366-8E1C-9FBFEB8AA934}" type="presParOf" srcId="{73E86D49-38A4-45B9-B2C7-EA7DA4FF9FE8}" destId="{430DD83C-6E81-4B9C-ABA5-C344902E6448}" srcOrd="0" destOrd="0" presId="urn:microsoft.com/office/officeart/2018/5/layout/IconLeafLabelList"/>
    <dgm:cxn modelId="{7A54508C-4C14-407D-B309-3F7493B571B0}" type="presParOf" srcId="{73E86D49-38A4-45B9-B2C7-EA7DA4FF9FE8}" destId="{03A73895-616C-49F0-A2C3-C43E3C70F421}" srcOrd="1" destOrd="0" presId="urn:microsoft.com/office/officeart/2018/5/layout/IconLeafLabelList"/>
    <dgm:cxn modelId="{97F6B532-A8C3-4318-92ED-F8A816C72EE8}" type="presParOf" srcId="{73E86D49-38A4-45B9-B2C7-EA7DA4FF9FE8}" destId="{D0297C68-5C40-4B5C-B4D3-AB426264D7A8}" srcOrd="2" destOrd="0" presId="urn:microsoft.com/office/officeart/2018/5/layout/IconLeafLabelList"/>
    <dgm:cxn modelId="{02C98597-B343-499C-804E-C4CFF2E1FAAA}" type="presParOf" srcId="{73E86D49-38A4-45B9-B2C7-EA7DA4FF9FE8}" destId="{A4BFF012-2E2F-48E6-AC47-4E87D56F288E}" srcOrd="3" destOrd="0" presId="urn:microsoft.com/office/officeart/2018/5/layout/IconLeafLabelList"/>
    <dgm:cxn modelId="{5D267BE8-ED0F-4690-B2E4-555AE898CCA7}" type="presParOf" srcId="{7C56D962-D84F-419D-A5B8-4F3F4E4BA17F}" destId="{7D12BB82-66C7-4F58-8256-FD29777088BA}" srcOrd="7" destOrd="0" presId="urn:microsoft.com/office/officeart/2018/5/layout/IconLeafLabelList"/>
    <dgm:cxn modelId="{9A63E4A2-3BF0-418E-BC18-ACACA6470F4B}" type="presParOf" srcId="{7C56D962-D84F-419D-A5B8-4F3F4E4BA17F}" destId="{6BD5C38F-D298-461C-B3E8-25FA6554BBED}" srcOrd="8" destOrd="0" presId="urn:microsoft.com/office/officeart/2018/5/layout/IconLeafLabelList"/>
    <dgm:cxn modelId="{27466DF9-7005-4CF4-B58C-692302AC7760}" type="presParOf" srcId="{6BD5C38F-D298-461C-B3E8-25FA6554BBED}" destId="{055E5D17-5898-402D-8A31-AD3A10D07201}" srcOrd="0" destOrd="0" presId="urn:microsoft.com/office/officeart/2018/5/layout/IconLeafLabelList"/>
    <dgm:cxn modelId="{FA215A97-AAE1-45FA-B3E8-D5FCB3A6A01D}" type="presParOf" srcId="{6BD5C38F-D298-461C-B3E8-25FA6554BBED}" destId="{452EC2F8-FA2E-4ED1-BDD4-1BD921F6DFF9}" srcOrd="1" destOrd="0" presId="urn:microsoft.com/office/officeart/2018/5/layout/IconLeafLabelList"/>
    <dgm:cxn modelId="{413AF690-3A0A-42AA-A2BE-D27E07E8869E}" type="presParOf" srcId="{6BD5C38F-D298-461C-B3E8-25FA6554BBED}" destId="{7B1F6C08-F68F-4B6D-A905-2E84DB38916C}" srcOrd="2" destOrd="0" presId="urn:microsoft.com/office/officeart/2018/5/layout/IconLeafLabelList"/>
    <dgm:cxn modelId="{BC2B8CAF-1F42-4EDE-9BAC-7E84935FC7F6}" type="presParOf" srcId="{6BD5C38F-D298-461C-B3E8-25FA6554BBED}" destId="{33B8CD29-92BF-41A3-94CB-5637458713A8}" srcOrd="3" destOrd="0" presId="urn:microsoft.com/office/officeart/2018/5/layout/IconLeafLabelList"/>
    <dgm:cxn modelId="{50392478-294B-46DF-8DE8-A236BA4A72BB}" type="presParOf" srcId="{7C56D962-D84F-419D-A5B8-4F3F4E4BA17F}" destId="{3FA4884F-9628-4F2C-A300-529538F9F585}" srcOrd="9" destOrd="0" presId="urn:microsoft.com/office/officeart/2018/5/layout/IconLeafLabelList"/>
    <dgm:cxn modelId="{7850CCD0-2A9F-4DE2-97BF-C1EDA4E046F4}" type="presParOf" srcId="{7C56D962-D84F-419D-A5B8-4F3F4E4BA17F}" destId="{989F84A6-45E8-4F1F-8A24-AB1E7760087B}" srcOrd="10" destOrd="0" presId="urn:microsoft.com/office/officeart/2018/5/layout/IconLeafLabelList"/>
    <dgm:cxn modelId="{9C670F9C-3C7A-489D-905C-299C9F6A3E43}" type="presParOf" srcId="{989F84A6-45E8-4F1F-8A24-AB1E7760087B}" destId="{5A6CAEA8-75BB-4244-A1F2-1E3716CF4A3A}" srcOrd="0" destOrd="0" presId="urn:microsoft.com/office/officeart/2018/5/layout/IconLeafLabelList"/>
    <dgm:cxn modelId="{7FF7F0F6-FA19-4465-B8DD-F14DA9F71D9D}" type="presParOf" srcId="{989F84A6-45E8-4F1F-8A24-AB1E7760087B}" destId="{CBB95475-5AC4-4042-A1CA-3C90232D03E6}" srcOrd="1" destOrd="0" presId="urn:microsoft.com/office/officeart/2018/5/layout/IconLeafLabelList"/>
    <dgm:cxn modelId="{CAA43020-2DCC-4902-9E7F-D711C9166EAF}" type="presParOf" srcId="{989F84A6-45E8-4F1F-8A24-AB1E7760087B}" destId="{D23A2EA8-267E-4A2B-AD93-708572695DF3}" srcOrd="2" destOrd="0" presId="urn:microsoft.com/office/officeart/2018/5/layout/IconLeafLabelList"/>
    <dgm:cxn modelId="{418B75EC-FEC4-46B3-BED8-ADB3F252CBD8}" type="presParOf" srcId="{989F84A6-45E8-4F1F-8A24-AB1E7760087B}" destId="{A84628D0-3713-49CE-86AF-4B39672C09D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0F3157-05D6-407B-A184-CD8151ECC659}">
      <dsp:nvSpPr>
        <dsp:cNvPr id="0" name=""/>
        <dsp:cNvSpPr/>
      </dsp:nvSpPr>
      <dsp:spPr>
        <a:xfrm>
          <a:off x="646127" y="52595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8FC961-5381-458B-A459-654FD816B0BB}">
      <dsp:nvSpPr>
        <dsp:cNvPr id="0" name=""/>
        <dsp:cNvSpPr/>
      </dsp:nvSpPr>
      <dsp:spPr>
        <a:xfrm>
          <a:off x="880127" y="286596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74255B-F9C2-422A-B824-61A12375D436}">
      <dsp:nvSpPr>
        <dsp:cNvPr id="0" name=""/>
        <dsp:cNvSpPr/>
      </dsp:nvSpPr>
      <dsp:spPr>
        <a:xfrm>
          <a:off x="295127" y="1492596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Engineering (FEM)</a:t>
          </a:r>
          <a:endParaRPr lang="en-US" sz="1100" kern="1200"/>
        </a:p>
      </dsp:txBody>
      <dsp:txXfrm>
        <a:off x="295127" y="1492596"/>
        <a:ext cx="1800000" cy="765000"/>
      </dsp:txXfrm>
    </dsp:sp>
    <dsp:sp modelId="{96D1B37A-9245-4721-9664-5B78C148847B}">
      <dsp:nvSpPr>
        <dsp:cNvPr id="0" name=""/>
        <dsp:cNvSpPr/>
      </dsp:nvSpPr>
      <dsp:spPr>
        <a:xfrm>
          <a:off x="2761127" y="52595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ADF29B-DDA7-433F-839D-5830988A25D1}">
      <dsp:nvSpPr>
        <dsp:cNvPr id="0" name=""/>
        <dsp:cNvSpPr/>
      </dsp:nvSpPr>
      <dsp:spPr>
        <a:xfrm>
          <a:off x="2995127" y="286596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625CF0-F3AF-431A-8B2D-73DC212628C7}">
      <dsp:nvSpPr>
        <dsp:cNvPr id="0" name=""/>
        <dsp:cNvSpPr/>
      </dsp:nvSpPr>
      <dsp:spPr>
        <a:xfrm>
          <a:off x="2410127" y="1492596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Machine Learning</a:t>
          </a:r>
          <a:endParaRPr lang="en-US" sz="1100" kern="1200"/>
        </a:p>
      </dsp:txBody>
      <dsp:txXfrm>
        <a:off x="2410127" y="1492596"/>
        <a:ext cx="1800000" cy="765000"/>
      </dsp:txXfrm>
    </dsp:sp>
    <dsp:sp modelId="{7321F4E4-D738-455F-AC2F-4608697E1C9C}">
      <dsp:nvSpPr>
        <dsp:cNvPr id="0" name=""/>
        <dsp:cNvSpPr/>
      </dsp:nvSpPr>
      <dsp:spPr>
        <a:xfrm>
          <a:off x="4876127" y="52595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9441F0-EDAE-46DF-BF96-D2CAC26849CF}">
      <dsp:nvSpPr>
        <dsp:cNvPr id="0" name=""/>
        <dsp:cNvSpPr/>
      </dsp:nvSpPr>
      <dsp:spPr>
        <a:xfrm>
          <a:off x="5110127" y="286596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6685E-C26C-4784-A53D-35BC449908E5}">
      <dsp:nvSpPr>
        <dsp:cNvPr id="0" name=""/>
        <dsp:cNvSpPr/>
      </dsp:nvSpPr>
      <dsp:spPr>
        <a:xfrm>
          <a:off x="4525128" y="1492596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Data Science</a:t>
          </a:r>
          <a:endParaRPr lang="en-US" sz="1100" kern="1200"/>
        </a:p>
      </dsp:txBody>
      <dsp:txXfrm>
        <a:off x="4525128" y="1492596"/>
        <a:ext cx="1800000" cy="765000"/>
      </dsp:txXfrm>
    </dsp:sp>
    <dsp:sp modelId="{430DD83C-6E81-4B9C-ABA5-C344902E6448}">
      <dsp:nvSpPr>
        <dsp:cNvPr id="0" name=""/>
        <dsp:cNvSpPr/>
      </dsp:nvSpPr>
      <dsp:spPr>
        <a:xfrm>
          <a:off x="646127" y="2707596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A73895-616C-49F0-A2C3-C43E3C70F421}">
      <dsp:nvSpPr>
        <dsp:cNvPr id="0" name=""/>
        <dsp:cNvSpPr/>
      </dsp:nvSpPr>
      <dsp:spPr>
        <a:xfrm>
          <a:off x="880127" y="2941596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FF012-2E2F-48E6-AC47-4E87D56F288E}">
      <dsp:nvSpPr>
        <dsp:cNvPr id="0" name=""/>
        <dsp:cNvSpPr/>
      </dsp:nvSpPr>
      <dsp:spPr>
        <a:xfrm>
          <a:off x="295127" y="4147596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Finite Element Method simulations for bridge and aerospace structural integrity.</a:t>
          </a:r>
          <a:endParaRPr lang="en-US" sz="1100" kern="1200"/>
        </a:p>
      </dsp:txBody>
      <dsp:txXfrm>
        <a:off x="295127" y="4147596"/>
        <a:ext cx="1800000" cy="765000"/>
      </dsp:txXfrm>
    </dsp:sp>
    <dsp:sp modelId="{055E5D17-5898-402D-8A31-AD3A10D07201}">
      <dsp:nvSpPr>
        <dsp:cNvPr id="0" name=""/>
        <dsp:cNvSpPr/>
      </dsp:nvSpPr>
      <dsp:spPr>
        <a:xfrm>
          <a:off x="2761127" y="2707596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2EC2F8-FA2E-4ED1-BDD4-1BD921F6DFF9}">
      <dsp:nvSpPr>
        <dsp:cNvPr id="0" name=""/>
        <dsp:cNvSpPr/>
      </dsp:nvSpPr>
      <dsp:spPr>
        <a:xfrm>
          <a:off x="2995127" y="2941596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B8CD29-92BF-41A3-94CB-5637458713A8}">
      <dsp:nvSpPr>
        <dsp:cNvPr id="0" name=""/>
        <dsp:cNvSpPr/>
      </dsp:nvSpPr>
      <dsp:spPr>
        <a:xfrm>
          <a:off x="2410127" y="4147596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Large-scale neural network weights and Graph Convolutional Networks (GCNs).</a:t>
          </a:r>
          <a:endParaRPr lang="en-US" sz="1100" kern="1200"/>
        </a:p>
      </dsp:txBody>
      <dsp:txXfrm>
        <a:off x="2410127" y="4147596"/>
        <a:ext cx="1800000" cy="765000"/>
      </dsp:txXfrm>
    </dsp:sp>
    <dsp:sp modelId="{5A6CAEA8-75BB-4244-A1F2-1E3716CF4A3A}">
      <dsp:nvSpPr>
        <dsp:cNvPr id="0" name=""/>
        <dsp:cNvSpPr/>
      </dsp:nvSpPr>
      <dsp:spPr>
        <a:xfrm>
          <a:off x="4876127" y="2707596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B95475-5AC4-4042-A1CA-3C90232D03E6}">
      <dsp:nvSpPr>
        <dsp:cNvPr id="0" name=""/>
        <dsp:cNvSpPr/>
      </dsp:nvSpPr>
      <dsp:spPr>
        <a:xfrm>
          <a:off x="5110127" y="2941596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4628D0-3713-49CE-86AF-4B39672C09D5}">
      <dsp:nvSpPr>
        <dsp:cNvPr id="0" name=""/>
        <dsp:cNvSpPr/>
      </dsp:nvSpPr>
      <dsp:spPr>
        <a:xfrm>
          <a:off x="4525128" y="4147596"/>
          <a:ext cx="1800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Recommendation systems and NLP involving high-dimensional sparse features.</a:t>
          </a:r>
          <a:endParaRPr lang="en-US" sz="1100" kern="1200"/>
        </a:p>
      </dsp:txBody>
      <dsp:txXfrm>
        <a:off x="4525128" y="4147596"/>
        <a:ext cx="1800000" cy="76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25756-6492-45E1-9113-A666D52BBB4B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37DFF-21DD-4FD0-9F47-D59AD754B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16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37DFF-21DD-4FD0-9F47-D59AD754BC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14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2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4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21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80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59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98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80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17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23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06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31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17-May-26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74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7A7C490-FB0D-4946-BDB7-1CF2F58DA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6D66E-B3C7-1603-EA33-CA85C6F95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17661" cy="3047327"/>
          </a:xfrm>
        </p:spPr>
        <p:txBody>
          <a:bodyPr anchor="t">
            <a:normAutofit/>
          </a:bodyPr>
          <a:lstStyle/>
          <a:p>
            <a:r>
              <a:rPr lang="en-US" sz="6100"/>
              <a:t>Sparse Matrices Analysis and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BD338E-ACF6-EAA8-3909-57445146ED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6141545" cy="1724029"/>
          </a:xfrm>
        </p:spPr>
        <p:txBody>
          <a:bodyPr anchor="t">
            <a:normAutofit/>
          </a:bodyPr>
          <a:lstStyle/>
          <a:p>
            <a:r>
              <a:rPr lang="en-US" dirty="0"/>
              <a:t>Hesham Ashraf 202201477</a:t>
            </a:r>
          </a:p>
          <a:p>
            <a:r>
              <a:rPr lang="en-US" dirty="0"/>
              <a:t>Ahmed Wael 202201415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2CF9B61-E4FC-7E9F-C99D-C2C15E329A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142" t="14157" r="1939" b="13091"/>
          <a:stretch>
            <a:fillRect/>
          </a:stretch>
        </p:blipFill>
        <p:spPr>
          <a:xfrm>
            <a:off x="7262949" y="1418035"/>
            <a:ext cx="4439999" cy="462712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261CD1D-C921-4DD4-B856-8EA1D71A4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49513" y="6209925"/>
            <a:ext cx="445472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8035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7EC965-B540-DC08-AECE-5DC6999BE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US" dirty="0"/>
              <a:t>The Challenge of Scale</a:t>
            </a:r>
          </a:p>
        </p:txBody>
      </p:sp>
      <p:pic>
        <p:nvPicPr>
          <p:cNvPr id="1026" name="Picture 2" descr="algorithm - Sparse matrix representation - Stack Overflow">
            <a:extLst>
              <a:ext uri="{FF2B5EF4-FFF2-40B4-BE49-F238E27FC236}">
                <a16:creationId xmlns:a16="http://schemas.microsoft.com/office/drawing/2014/main" id="{41D5261F-C90D-CD74-7550-0DCEA0C79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1231572"/>
            <a:ext cx="4959823" cy="4390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08C5E-97E9-5901-8850-1344E805A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578608"/>
            <a:ext cx="5513832" cy="3767328"/>
          </a:xfrm>
        </p:spPr>
        <p:txBody>
          <a:bodyPr>
            <a:normAutofit/>
          </a:bodyPr>
          <a:lstStyle/>
          <a:p>
            <a:r>
              <a:rPr lang="en-US" dirty="0"/>
              <a:t>in scientific engineering, large systems of linear equations often involve matrices where most elements are </a:t>
            </a:r>
            <a:r>
              <a:rPr lang="en-US" b="1" dirty="0"/>
              <a:t>zero</a:t>
            </a:r>
            <a:r>
              <a:rPr lang="en-US" dirty="0"/>
              <a:t>.</a:t>
            </a:r>
          </a:p>
          <a:p>
            <a:r>
              <a:rPr lang="en-US" dirty="0"/>
              <a:t>Standard dense storage leads to </a:t>
            </a:r>
            <a:r>
              <a:rPr lang="en-US" b="1" dirty="0"/>
              <a:t>quadratic memory growth</a:t>
            </a:r>
            <a:r>
              <a:rPr lang="en-US" dirty="0"/>
              <a:t> O(n^2), making massive simulations computationally prohibitive on modern hardware.</a:t>
            </a:r>
          </a:p>
          <a:p>
            <a:r>
              <a:rPr lang="en-US" dirty="0"/>
              <a:t>Sparse matrix techniques enable efficient storage and specialized solvers that drastically reduce execution time and resource consumption.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7121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98101-E0F6-1028-3FFA-0A66CA7E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28FA48-F9AE-89CA-DAAB-0A0B4B292B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578608"/>
                <a:ext cx="4370832" cy="3767328"/>
              </a:xfrm>
            </p:spPr>
            <p:txBody>
              <a:bodyPr/>
              <a:lstStyle/>
              <a:p>
                <a:r>
                  <a:rPr lang="en-US" b="1" dirty="0"/>
                  <a:t>Mathematical Model</a:t>
                </a:r>
              </a:p>
              <a:p>
                <a:r>
                  <a:rPr lang="en-US" dirty="0"/>
                  <a:t>Solving the fundamental linear system: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/>
                        <m:t>𝐴𝑥</m:t>
                      </m:r>
                      <m:r>
                        <a:rPr lang="en-US"/>
                        <m:t>=</m:t>
                      </m:r>
                      <m:r>
                        <a:rPr lang="en-US" i="1"/>
                        <m:t>𝑏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A is a sparse matrix of size (n, n)</a:t>
                </a:r>
              </a:p>
              <a:p>
                <a:pPr lvl="1"/>
                <a:r>
                  <a:rPr lang="en-US" dirty="0"/>
                  <a:t>x is the unknown vector</a:t>
                </a:r>
              </a:p>
              <a:p>
                <a:pPr lvl="1"/>
                <a:r>
                  <a:rPr lang="en-US" dirty="0"/>
                  <a:t>b is a known vector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28FA48-F9AE-89CA-DAAB-0A0B4B292B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578608"/>
                <a:ext cx="4370832" cy="3767328"/>
              </a:xfrm>
              <a:blipFill>
                <a:blip r:embed="rId2"/>
                <a:stretch>
                  <a:fillRect l="-976" t="-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5D5F0FD-7383-B3BF-689F-95F8C90E3C76}"/>
              </a:ext>
            </a:extLst>
          </p:cNvPr>
          <p:cNvSpPr txBox="1"/>
          <p:nvPr/>
        </p:nvSpPr>
        <p:spPr>
          <a:xfrm>
            <a:off x="6096000" y="2578608"/>
            <a:ext cx="55747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Primary Objectives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Storage Optimization: </a:t>
            </a:r>
            <a:r>
              <a:rPr lang="en-US" dirty="0"/>
              <a:t>Implement CSR and CSC representations.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Iterative Solving: </a:t>
            </a:r>
            <a:r>
              <a:rPr lang="en-US" dirty="0"/>
              <a:t>Apply Jacobi and Gauss-Seidel iterations.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 Benchmarking: </a:t>
            </a:r>
            <a:r>
              <a:rPr lang="en-US" dirty="0"/>
              <a:t>Evaluate scalability and accuracy.</a:t>
            </a:r>
          </a:p>
        </p:txBody>
      </p:sp>
    </p:spTree>
    <p:extLst>
      <p:ext uri="{BB962C8B-B14F-4D97-AF65-F5344CB8AC3E}">
        <p14:creationId xmlns:p14="http://schemas.microsoft.com/office/powerpoint/2010/main" val="15509868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CF7C-D4B0-29A8-01BA-19F71847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Storage Formats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96A4BD7-135D-0A05-33CE-C5E444A512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3" t="15546" r="1938" b="3445"/>
          <a:stretch>
            <a:fillRect/>
          </a:stretch>
        </p:blipFill>
        <p:spPr>
          <a:xfrm>
            <a:off x="762000" y="1771442"/>
            <a:ext cx="10439400" cy="491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06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E7D5B5-5DB4-58EC-118D-D9E954433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Memory Scalability Analysis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2829DF-0D84-527A-33A7-5E460B330F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366" y="679745"/>
            <a:ext cx="7438426" cy="559741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3011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777D1B-FB59-74E6-414D-1520973DA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5160" y="978408"/>
            <a:ext cx="4745736" cy="1463040"/>
          </a:xfrm>
        </p:spPr>
        <p:txBody>
          <a:bodyPr>
            <a:normAutofit/>
          </a:bodyPr>
          <a:lstStyle/>
          <a:p>
            <a:r>
              <a:rPr lang="en-US" dirty="0"/>
              <a:t>Iterative Solver Comparison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69C9F8-81A6-4051-8043-115EAC88D3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10"/>
          <a:stretch>
            <a:fillRect/>
          </a:stretch>
        </p:blipFill>
        <p:spPr>
          <a:xfrm>
            <a:off x="517868" y="508090"/>
            <a:ext cx="5705856" cy="5846990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6407" y="508090"/>
            <a:ext cx="4660733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3A779-2737-F4EF-E142-50E10FDA1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5160" y="2578608"/>
            <a:ext cx="4672584" cy="3767328"/>
          </a:xfrm>
        </p:spPr>
        <p:txBody>
          <a:bodyPr>
            <a:normAutofit/>
          </a:bodyPr>
          <a:lstStyle/>
          <a:p>
            <a:r>
              <a:rPr lang="en-US" b="1" dirty="0"/>
              <a:t>Jacobi Iteration</a:t>
            </a:r>
            <a:endParaRPr lang="en-US" dirty="0"/>
          </a:p>
          <a:p>
            <a:r>
              <a:rPr lang="en-US" dirty="0"/>
              <a:t>Updates all variables simultaneously using only values from the previous step.</a:t>
            </a:r>
          </a:p>
          <a:p>
            <a:endParaRPr lang="en-US" dirty="0"/>
          </a:p>
          <a:p>
            <a:r>
              <a:rPr lang="en-US" dirty="0"/>
              <a:t>Benefit: Highly parallelizable.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253B6BD-3E9D-A11E-CE21-372D13564B38}"/>
                  </a:ext>
                </a:extLst>
              </p:cNvPr>
              <p:cNvSpPr txBox="1"/>
              <p:nvPr/>
            </p:nvSpPr>
            <p:spPr>
              <a:xfrm>
                <a:off x="7649718" y="3762571"/>
                <a:ext cx="3363468" cy="445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253B6BD-3E9D-A11E-CE21-372D13564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718" y="3762571"/>
                <a:ext cx="3363468" cy="4453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07747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FAABE-8E36-8442-D9A5-04484DA98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US" dirty="0"/>
              <a:t>Iterative Solver Comparison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F3A80B-29FB-B234-02E7-4FB7FFA5D3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7" y="624890"/>
            <a:ext cx="4959823" cy="560431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1EC27-7986-1980-4F65-7BFFEBF38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578608"/>
            <a:ext cx="5513832" cy="3767328"/>
          </a:xfrm>
        </p:spPr>
        <p:txBody>
          <a:bodyPr>
            <a:normAutofit/>
          </a:bodyPr>
          <a:lstStyle/>
          <a:p>
            <a:r>
              <a:rPr lang="en-US" b="1" dirty="0"/>
              <a:t>Gauss-Seidel Method</a:t>
            </a:r>
            <a:endParaRPr lang="en-US" dirty="0"/>
          </a:p>
          <a:p>
            <a:r>
              <a:rPr lang="en-US" dirty="0"/>
              <a:t>Uses newly computed values immediately within the current iteration.</a:t>
            </a:r>
          </a:p>
          <a:p>
            <a:endParaRPr lang="en-US" dirty="0"/>
          </a:p>
          <a:p>
            <a:r>
              <a:rPr lang="en-US" dirty="0"/>
              <a:t>Benefit: Faster convergence for most systems.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02E007-8EE6-73B2-8696-C352E963EF72}"/>
                  </a:ext>
                </a:extLst>
              </p:cNvPr>
              <p:cNvSpPr txBox="1"/>
              <p:nvPr/>
            </p:nvSpPr>
            <p:spPr>
              <a:xfrm>
                <a:off x="7249668" y="3709230"/>
                <a:ext cx="3322320" cy="445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02E007-8EE6-73B2-8696-C352E963E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668" y="3709230"/>
                <a:ext cx="3322320" cy="4453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889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65905-5C1C-7731-9BFC-0E3D521B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Solver Performance Benchmarks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32DB79-A348-2A1F-3BC0-445B1144D2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5160615"/>
              </p:ext>
            </p:extLst>
          </p:nvPr>
        </p:nvGraphicFramePr>
        <p:xfrm>
          <a:off x="520700" y="2915834"/>
          <a:ext cx="11156953" cy="309167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28028">
                  <a:extLst>
                    <a:ext uri="{9D8B030D-6E8A-4147-A177-3AD203B41FA5}">
                      <a16:colId xmlns:a16="http://schemas.microsoft.com/office/drawing/2014/main" val="120497504"/>
                    </a:ext>
                  </a:extLst>
                </a:gridCol>
                <a:gridCol w="1994748">
                  <a:extLst>
                    <a:ext uri="{9D8B030D-6E8A-4147-A177-3AD203B41FA5}">
                      <a16:colId xmlns:a16="http://schemas.microsoft.com/office/drawing/2014/main" val="2381058898"/>
                    </a:ext>
                  </a:extLst>
                </a:gridCol>
                <a:gridCol w="1798607">
                  <a:extLst>
                    <a:ext uri="{9D8B030D-6E8A-4147-A177-3AD203B41FA5}">
                      <a16:colId xmlns:a16="http://schemas.microsoft.com/office/drawing/2014/main" val="2210670430"/>
                    </a:ext>
                  </a:extLst>
                </a:gridCol>
                <a:gridCol w="2154112">
                  <a:extLst>
                    <a:ext uri="{9D8B030D-6E8A-4147-A177-3AD203B41FA5}">
                      <a16:colId xmlns:a16="http://schemas.microsoft.com/office/drawing/2014/main" val="2205207400"/>
                    </a:ext>
                  </a:extLst>
                </a:gridCol>
                <a:gridCol w="1727505">
                  <a:extLst>
                    <a:ext uri="{9D8B030D-6E8A-4147-A177-3AD203B41FA5}">
                      <a16:colId xmlns:a16="http://schemas.microsoft.com/office/drawing/2014/main" val="3262605480"/>
                    </a:ext>
                  </a:extLst>
                </a:gridCol>
                <a:gridCol w="1653953">
                  <a:extLst>
                    <a:ext uri="{9D8B030D-6E8A-4147-A177-3AD203B41FA5}">
                      <a16:colId xmlns:a16="http://schemas.microsoft.com/office/drawing/2014/main" val="905899779"/>
                    </a:ext>
                  </a:extLst>
                </a:gridCol>
              </a:tblGrid>
              <a:tr h="90484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Matrix Size</a:t>
                      </a:r>
                      <a:endParaRPr lang="en-US" sz="2200" b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Jacobi Time</a:t>
                      </a:r>
                      <a:endParaRPr lang="en-US" sz="2200" b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Jacobi Iter</a:t>
                      </a:r>
                      <a:endParaRPr lang="en-US" sz="2200" b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Gauss-Seidel Time</a:t>
                      </a:r>
                      <a:endParaRPr lang="en-US" sz="2200" b="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Gauss-Seidel Iter</a:t>
                      </a:r>
                      <a:endParaRPr lang="en-US" sz="2200" b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Direct Solver</a:t>
                      </a:r>
                      <a:endParaRPr lang="en-US" sz="2200" b="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19767"/>
                  </a:ext>
                </a:extLst>
              </a:tr>
              <a:tr h="56956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100x100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0.0016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13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0.0156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9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0.0012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798356"/>
                  </a:ext>
                </a:extLst>
              </a:tr>
              <a:tr h="52384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300x300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0.0002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11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0.0522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25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0.0013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392750"/>
                  </a:ext>
                </a:extLst>
              </a:tr>
              <a:tr h="56956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500x500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0.0005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39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0.0809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11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0.0049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875758"/>
                  </a:ext>
                </a:extLst>
              </a:tr>
              <a:tr h="52384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800x800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0.0008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60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0.1261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9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0.0290</a:t>
                      </a:r>
                      <a:endParaRPr lang="en-US" sz="19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8974" marR="124146" marT="98855" marB="98855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458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4466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0FF598-8F5C-66E5-3AB5-61F5A3BA6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Real-World Applications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extBox 4">
            <a:extLst>
              <a:ext uri="{FF2B5EF4-FFF2-40B4-BE49-F238E27FC236}">
                <a16:creationId xmlns:a16="http://schemas.microsoft.com/office/drawing/2014/main" id="{4CEFDE64-8264-CEE7-F459-512E641A1E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2808936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63422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 descr="3D black question marks with one yellow question mark">
            <a:extLst>
              <a:ext uri="{FF2B5EF4-FFF2-40B4-BE49-F238E27FC236}">
                <a16:creationId xmlns:a16="http://schemas.microsoft.com/office/drawing/2014/main" id="{A685BEC4-9F21-B3E4-54F5-6D833C3B3E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0" r="6122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3B4A5D-D242-FAFE-6721-A30B133CC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9" y="5731580"/>
            <a:ext cx="8196431" cy="960120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Any Question? </a:t>
            </a:r>
          </a:p>
        </p:txBody>
      </p:sp>
    </p:spTree>
    <p:extLst>
      <p:ext uri="{BB962C8B-B14F-4D97-AF65-F5344CB8AC3E}">
        <p14:creationId xmlns:p14="http://schemas.microsoft.com/office/powerpoint/2010/main" val="3014320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15A87998-C18E-115F-E9EF-84DA0C2A2E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137" b="386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497188-2229-91FA-BDD1-6F6B6A44D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9" y="5731580"/>
            <a:ext cx="8196431" cy="960120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08764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281</Words>
  <Application>Microsoft Office PowerPoint</Application>
  <PresentationFormat>Widescreen</PresentationFormat>
  <Paragraphs>73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Bierstadt</vt:lpstr>
      <vt:lpstr>Calibri</vt:lpstr>
      <vt:lpstr>Cambria Math</vt:lpstr>
      <vt:lpstr>DM Sans</vt:lpstr>
      <vt:lpstr>GestaltVTI</vt:lpstr>
      <vt:lpstr>Sparse Matrices Analysis and Applications</vt:lpstr>
      <vt:lpstr>The Challenge of Scale</vt:lpstr>
      <vt:lpstr>Problem Definition</vt:lpstr>
      <vt:lpstr>Storage Formats</vt:lpstr>
      <vt:lpstr>Memory Scalability Analysis</vt:lpstr>
      <vt:lpstr>Iterative Solver Comparison</vt:lpstr>
      <vt:lpstr>Iterative Solver Comparison</vt:lpstr>
      <vt:lpstr>Solver Performance Benchmarks</vt:lpstr>
      <vt:lpstr>Real-World Applications</vt:lpstr>
      <vt:lpstr>Any Question?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wael salem</dc:creator>
  <cp:lastModifiedBy>ahmed wael salem</cp:lastModifiedBy>
  <cp:revision>2</cp:revision>
  <dcterms:created xsi:type="dcterms:W3CDTF">2026-05-16T23:48:06Z</dcterms:created>
  <dcterms:modified xsi:type="dcterms:W3CDTF">2026-05-17T00:32:44Z</dcterms:modified>
</cp:coreProperties>
</file>